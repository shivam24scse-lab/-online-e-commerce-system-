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0066CC"/>
                </a:solidFill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66CC"/>
                </a:solidFill>
              </a:defRPr>
            </a:pPr>
            <a:r>
              <a:t>Online E-Commerce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66CC"/>
                </a:solidFill>
              </a:defRPr>
            </a:pPr>
            <a:r>
              <a:t>Revolutionizing Digital Shopping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i="1" b="1">
                <a:solidFill>
                  <a:srgbClr val="0066CC"/>
                </a:solidFill>
              </a:defRPr>
            </a:pPr>
            <a:r>
              <a:t>Making Online Shopping Smarter and Simpler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0066CC"/>
                </a:solidFill>
              </a:defRPr>
            </a:pPr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066CC"/>
                </a:solidFill>
              </a:defRPr>
            </a:pPr>
            <a:r>
              <a:t>Project Overview</a:t>
            </a:r>
          </a:p>
          <a:p>
            <a:pPr lvl="1">
              <a:defRPr sz="1600">
                <a:solidFill>
                  <a:srgbClr val="4D4D4D"/>
                </a:solidFill>
              </a:defRPr>
            </a:pPr>
            <a:r>
              <a:t>A comprehensive digital platform that revolutionizes online shopping for both customers and businesses</a:t>
            </a:r>
          </a:p>
          <a:p>
            <a:pPr>
              <a:defRPr b="1" sz="2000">
                <a:solidFill>
                  <a:srgbClr val="0066CC"/>
                </a:solidFill>
              </a:defRPr>
            </a:pPr>
            <a:r>
              <a:t>Vision &amp; Mission</a:t>
            </a:r>
          </a:p>
          <a:p>
            <a:pPr lvl="1">
              <a:defRPr sz="1600">
                <a:solidFill>
                  <a:srgbClr val="4D4D4D"/>
                </a:solidFill>
              </a:defRPr>
            </a:pPr>
            <a:r>
              <a:t>To make online shopping smarter, simpler, and accessible to everyone, 24/7</a:t>
            </a:r>
          </a:p>
          <a:p>
            <a:pPr>
              <a:defRPr b="1" sz="2000">
                <a:solidFill>
                  <a:srgbClr val="0066CC"/>
                </a:solidFill>
              </a:defRPr>
            </a:pPr>
            <a:r>
              <a:t>Key Objectives</a:t>
            </a:r>
          </a:p>
          <a:p>
            <a:pPr lvl="1">
              <a:defRPr sz="1600">
                <a:solidFill>
                  <a:srgbClr val="4D4D4D"/>
                </a:solidFill>
              </a:defRPr>
            </a:pPr>
            <a:r>
              <a:t>Save time by 70% through automation</a:t>
            </a:r>
          </a:p>
          <a:p>
            <a:pPr lvl="1">
              <a:defRPr sz="1600">
                <a:solidFill>
                  <a:srgbClr val="4D4D4D"/>
                </a:solidFill>
              </a:defRPr>
            </a:pPr>
            <a:r>
              <a:t>Reduce manual errors by 95%</a:t>
            </a:r>
          </a:p>
          <a:p>
            <a:pPr lvl="1">
              <a:defRPr sz="1600">
                <a:solidFill>
                  <a:srgbClr val="4D4D4D"/>
                </a:solidFill>
              </a:defRPr>
            </a:pPr>
            <a:r>
              <a:t>Enable business growth through scalability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0066CC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0066CC"/>
                </a:solidFill>
              </a:defRPr>
            </a:pPr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066CC"/>
                </a:solidFill>
              </a:defRPr>
            </a:pPr>
            <a:r>
              <a:t>Current Market Challenges</a:t>
            </a:r>
          </a:p>
          <a:p>
            <a:pPr lvl="1">
              <a:defRPr sz="1600">
                <a:solidFill>
                  <a:srgbClr val="4D4D4D"/>
                </a:solidFill>
              </a:defRPr>
            </a:pPr>
            <a:r>
              <a:t>Time-consuming manual buying and selling processes</a:t>
            </a:r>
          </a:p>
          <a:p>
            <a:pPr lvl="1">
              <a:defRPr sz="1600">
                <a:solidFill>
                  <a:srgbClr val="4D4D4D"/>
                </a:solidFill>
              </a:defRPr>
            </a:pPr>
            <a:r>
              <a:t>High error rates in inventory and order management</a:t>
            </a:r>
          </a:p>
          <a:p>
            <a:pPr lvl="1">
              <a:defRPr sz="1600">
                <a:solidFill>
                  <a:srgbClr val="4D4D4D"/>
                </a:solidFill>
              </a:defRPr>
            </a:pPr>
            <a:r>
              <a:t>Limited accessibility - restricted to business hours</a:t>
            </a:r>
          </a:p>
          <a:p>
            <a:pPr>
              <a:defRPr b="1" sz="2000">
                <a:solidFill>
                  <a:srgbClr val="0066CC"/>
                </a:solidFill>
              </a:defRPr>
            </a:pPr>
            <a:r>
              <a:t>Pain Points in Traditional Shopping</a:t>
            </a:r>
          </a:p>
          <a:p>
            <a:pPr lvl="1">
              <a:defRPr sz="1600">
                <a:solidFill>
                  <a:srgbClr val="4D4D4D"/>
                </a:solidFill>
              </a:defRPr>
            </a:pPr>
            <a:r>
              <a:t>Long queues and limited product information</a:t>
            </a:r>
          </a:p>
          <a:p>
            <a:pPr lvl="1">
              <a:defRPr sz="1600">
                <a:solidFill>
                  <a:srgbClr val="4D4D4D"/>
                </a:solidFill>
              </a:defRPr>
            </a:pPr>
            <a:r>
              <a:t>Location constraints and physical store dependencies</a:t>
            </a:r>
          </a:p>
          <a:p>
            <a:pPr>
              <a:defRPr b="1" sz="2000">
                <a:solidFill>
                  <a:srgbClr val="0066CC"/>
                </a:solidFill>
              </a:defRPr>
            </a:pPr>
            <a:r>
              <a:t>Opportunity Identification</a:t>
            </a:r>
          </a:p>
          <a:p>
            <a:pPr lvl="1">
              <a:defRPr sz="1600">
                <a:solidFill>
                  <a:srgbClr val="4D4D4D"/>
                </a:solidFill>
              </a:defRPr>
            </a:pPr>
            <a:r>
              <a:t>Digital transformation enables 24/7 automated commerce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0066CC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0066CC"/>
                </a:solidFill>
              </a:defRPr>
            </a:pPr>
            <a:r>
              <a:t>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066CC"/>
                </a:solidFill>
              </a:defRPr>
            </a:pPr>
            <a:r>
              <a:t>How Our E-Commerce System Solves These Problems</a:t>
            </a:r>
          </a:p>
          <a:p>
            <a:pPr lvl="1">
              <a:defRPr sz="1600">
                <a:solidFill>
                  <a:srgbClr val="4D4D4D"/>
                </a:solidFill>
              </a:defRPr>
            </a:pPr>
            <a:r>
              <a:t>Automated inventory and order management system</a:t>
            </a:r>
          </a:p>
          <a:p>
            <a:pPr lvl="1">
              <a:defRPr sz="1600">
                <a:solidFill>
                  <a:srgbClr val="4D4D4D"/>
                </a:solidFill>
              </a:defRPr>
            </a:pPr>
            <a:r>
              <a:t>24/7 availability - shop anytime, anywhere</a:t>
            </a:r>
          </a:p>
          <a:p>
            <a:pPr lvl="1">
              <a:defRPr sz="1600">
                <a:solidFill>
                  <a:srgbClr val="4D4D4D"/>
                </a:solidFill>
              </a:defRPr>
            </a:pPr>
            <a:r>
              <a:t>Real-time processing with 95% error reduction</a:t>
            </a:r>
          </a:p>
          <a:p>
            <a:pPr>
              <a:defRPr b="1" sz="2000">
                <a:solidFill>
                  <a:srgbClr val="0066CC"/>
                </a:solidFill>
              </a:defRPr>
            </a:pPr>
            <a:r>
              <a:t>Unique Value Proposition</a:t>
            </a:r>
          </a:p>
          <a:p>
            <a:pPr lvl="1">
              <a:defRPr sz="1600">
                <a:solidFill>
                  <a:srgbClr val="4D4D4D"/>
                </a:solidFill>
              </a:defRPr>
            </a:pPr>
            <a:r>
              <a:t>Seamless integration of customer and admin experiences</a:t>
            </a:r>
          </a:p>
          <a:p>
            <a:pPr lvl="1">
              <a:defRPr sz="1600">
                <a:solidFill>
                  <a:srgbClr val="4D4D4D"/>
                </a:solidFill>
              </a:defRPr>
            </a:pPr>
            <a:r>
              <a:t>Intelligent platform with user-friendly interface</a:t>
            </a:r>
          </a:p>
          <a:p>
            <a:pPr>
              <a:defRPr b="1" sz="2000">
                <a:solidFill>
                  <a:srgbClr val="0066CC"/>
                </a:solidFill>
              </a:defRPr>
            </a:pPr>
            <a:r>
              <a:t>Competitive Advantages</a:t>
            </a:r>
          </a:p>
          <a:p>
            <a:pPr lvl="1">
              <a:defRPr sz="1600">
                <a:solidFill>
                  <a:srgbClr val="4D4D4D"/>
                </a:solidFill>
              </a:defRPr>
            </a:pPr>
            <a:r>
              <a:t>Scalable, secure, and future-ready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0066CC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0066CC"/>
                </a:solidFill>
              </a:defRPr>
            </a:pPr>
            <a:r>
              <a:t>Key Features &amp; Functionality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066CC"/>
                </a:solidFill>
              </a:defRPr>
            </a:pPr>
            <a:r>
              <a:t>User registration and authentication with secure login</a:t>
            </a:r>
          </a:p>
          <a:p>
            <a:pPr>
              <a:defRPr b="1" sz="2000">
                <a:solidFill>
                  <a:srgbClr val="0066CC"/>
                </a:solidFill>
              </a:defRPr>
            </a:pPr>
            <a:r>
              <a:t>Product catalog and advanced search capabilities</a:t>
            </a:r>
          </a:p>
          <a:p>
            <a:pPr>
              <a:defRPr b="1" sz="2000">
                <a:solidFill>
                  <a:srgbClr val="0066CC"/>
                </a:solidFill>
              </a:defRPr>
            </a:pPr>
            <a:r>
              <a:t>Shopping cart and wishlist management</a:t>
            </a:r>
          </a:p>
          <a:p>
            <a:pPr>
              <a:defRPr b="1" sz="2000">
                <a:solidFill>
                  <a:srgbClr val="0066CC"/>
                </a:solidFill>
              </a:defRPr>
            </a:pPr>
            <a:r>
              <a:t>Secure payment gateway integration (Stripe, PayPal)</a:t>
            </a:r>
          </a:p>
          <a:p>
            <a:pPr>
              <a:defRPr b="1" sz="2000">
                <a:solidFill>
                  <a:srgbClr val="0066CC"/>
                </a:solidFill>
              </a:defRPr>
            </a:pPr>
            <a:r>
              <a:t>Order tracking and management in real-time</a:t>
            </a:r>
          </a:p>
          <a:p>
            <a:pPr>
              <a:defRPr b="1" sz="2000">
                <a:solidFill>
                  <a:srgbClr val="0066CC"/>
                </a:solidFill>
              </a:defRPr>
            </a:pPr>
            <a:r>
              <a:t>User reviews and ratings system</a:t>
            </a:r>
          </a:p>
          <a:p>
            <a:pPr>
              <a:defRPr b="1" sz="2000">
                <a:solidFill>
                  <a:srgbClr val="0066CC"/>
                </a:solidFill>
              </a:defRPr>
            </a:pPr>
            <a:r>
              <a:t>Comprehensive admin dashboard with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0066CC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0066CC"/>
                </a:solidFill>
              </a:defRPr>
            </a:pPr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066CC"/>
                </a:solidFill>
              </a:defRPr>
            </a:pPr>
            <a:r>
              <a:t>High-Level Architecture</a:t>
            </a:r>
          </a:p>
          <a:p>
            <a:pPr lvl="1">
              <a:defRPr sz="1600">
                <a:solidFill>
                  <a:srgbClr val="4D4D4D"/>
                </a:solidFill>
              </a:defRPr>
            </a:pPr>
            <a:r>
              <a:t>Three-tier architecture for scalability and maintainability</a:t>
            </a:r>
          </a:p>
          <a:p>
            <a:pPr>
              <a:defRPr b="1" sz="2000">
                <a:solidFill>
                  <a:srgbClr val="0066CC"/>
                </a:solidFill>
              </a:defRPr>
            </a:pPr>
            <a:r>
              <a:t>Technology Stack</a:t>
            </a:r>
          </a:p>
          <a:p>
            <a:pPr lvl="1">
              <a:defRPr sz="1600">
                <a:solidFill>
                  <a:srgbClr val="4D4D4D"/>
                </a:solidFill>
              </a:defRPr>
            </a:pPr>
            <a:r>
              <a:t>Frontend: React.js, HTML5, CSS3, Bootstrap</a:t>
            </a:r>
          </a:p>
          <a:p>
            <a:pPr lvl="1">
              <a:defRPr sz="1600">
                <a:solidFill>
                  <a:srgbClr val="4D4D4D"/>
                </a:solidFill>
              </a:defRPr>
            </a:pPr>
            <a:r>
              <a:t>Backend: Node.js/Express, RESTful APIs, JWT authentication</a:t>
            </a:r>
          </a:p>
          <a:p>
            <a:pPr lvl="1">
              <a:defRPr sz="1600">
                <a:solidFill>
                  <a:srgbClr val="4D4D4D"/>
                </a:solidFill>
              </a:defRPr>
            </a:pPr>
            <a:r>
              <a:t>Database: MongoDB/PostgreSQL, Redis caching</a:t>
            </a:r>
          </a:p>
          <a:p>
            <a:pPr>
              <a:defRPr b="1" sz="2000">
                <a:solidFill>
                  <a:srgbClr val="0066CC"/>
                </a:solidFill>
              </a:defRPr>
            </a:pPr>
            <a:r>
              <a:t>Third-Party Integrations</a:t>
            </a:r>
          </a:p>
          <a:p>
            <a:pPr lvl="1">
              <a:defRPr sz="1600">
                <a:solidFill>
                  <a:srgbClr val="4D4D4D"/>
                </a:solidFill>
              </a:defRPr>
            </a:pPr>
            <a:r>
              <a:t>Payment gateways, shipping APIs, analytics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0066CC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0066CC"/>
                </a:solidFill>
              </a:defRPr>
            </a:pPr>
            <a:r>
              <a:t>User Experience Journey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066CC"/>
                </a:solidFill>
              </a:defRPr>
            </a:pPr>
            <a:r>
              <a:t>Customer Journey Map</a:t>
            </a:r>
          </a:p>
          <a:p>
            <a:pPr lvl="1">
              <a:defRPr sz="1600">
                <a:solidFill>
                  <a:srgbClr val="4D4D4D"/>
                </a:solidFill>
              </a:defRPr>
            </a:pPr>
            <a:r>
              <a:t>Registration/Login → Browse → Search → Add to Cart → Checkout → Track → Receive</a:t>
            </a:r>
          </a:p>
          <a:p>
            <a:pPr>
              <a:defRPr b="1" sz="2000">
                <a:solidFill>
                  <a:srgbClr val="0066CC"/>
                </a:solidFill>
              </a:defRPr>
            </a:pPr>
            <a:r>
              <a:t>User Flow Diagrams</a:t>
            </a:r>
          </a:p>
          <a:p>
            <a:pPr lvl="1">
              <a:defRPr sz="1600">
                <a:solidFill>
                  <a:srgbClr val="4D4D4D"/>
                </a:solidFill>
              </a:defRPr>
            </a:pPr>
            <a:r>
              <a:t>Intuitive navigation with minimal clicks to purchase</a:t>
            </a:r>
          </a:p>
          <a:p>
            <a:pPr>
              <a:defRPr b="1" sz="2000">
                <a:solidFill>
                  <a:srgbClr val="0066CC"/>
                </a:solidFill>
              </a:defRPr>
            </a:pPr>
            <a:r>
              <a:t>Mobile-Responsive Design</a:t>
            </a:r>
          </a:p>
          <a:p>
            <a:pPr lvl="1">
              <a:defRPr sz="1600">
                <a:solidFill>
                  <a:srgbClr val="4D4D4D"/>
                </a:solidFill>
              </a:defRPr>
            </a:pPr>
            <a:r>
              <a:t>Optimized for all devices - desktop, tablet, mobile</a:t>
            </a:r>
          </a:p>
          <a:p>
            <a:pPr>
              <a:defRPr b="1" sz="2000">
                <a:solidFill>
                  <a:srgbClr val="0066CC"/>
                </a:solidFill>
              </a:defRPr>
            </a:pPr>
            <a:r>
              <a:t>Accessibility Features</a:t>
            </a:r>
          </a:p>
          <a:p>
            <a:pPr lvl="1">
              <a:defRPr sz="1600">
                <a:solidFill>
                  <a:srgbClr val="4D4D4D"/>
                </a:solidFill>
              </a:defRPr>
            </a:pPr>
            <a:r>
              <a:t>WCAG compliant, screen reader support, keyboard navigation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0066CC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0066CC"/>
                </a:solidFill>
              </a:defRPr>
            </a:pPr>
            <a:r>
              <a:t>Security &amp; Payment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066CC"/>
                </a:solidFill>
              </a:defRPr>
            </a:pPr>
            <a:r>
              <a:t>Security Measures</a:t>
            </a:r>
          </a:p>
          <a:p>
            <a:pPr lvl="1">
              <a:defRPr sz="1600">
                <a:solidFill>
                  <a:srgbClr val="4D4D4D"/>
                </a:solidFill>
              </a:defRPr>
            </a:pPr>
            <a:r>
              <a:t>SSL/TLS encryption for all data transmission</a:t>
            </a:r>
          </a:p>
          <a:p>
            <a:pPr lvl="1">
              <a:defRPr sz="1600">
                <a:solidFill>
                  <a:srgbClr val="4D4D4D"/>
                </a:solidFill>
              </a:defRPr>
            </a:pPr>
            <a:r>
              <a:t>End-to-end encryption for sensitive information</a:t>
            </a:r>
          </a:p>
          <a:p>
            <a:pPr>
              <a:defRPr b="1" sz="2000">
                <a:solidFill>
                  <a:srgbClr val="0066CC"/>
                </a:solidFill>
              </a:defRPr>
            </a:pPr>
            <a:r>
              <a:t>Payment Gateway Options</a:t>
            </a:r>
          </a:p>
          <a:p>
            <a:pPr lvl="1">
              <a:defRPr sz="1600">
                <a:solidFill>
                  <a:srgbClr val="4D4D4D"/>
                </a:solidFill>
              </a:defRPr>
            </a:pPr>
            <a:r>
              <a:t>Multiple payment methods: Credit/Debit cards, PayPal, Stripe</a:t>
            </a:r>
          </a:p>
          <a:p>
            <a:pPr>
              <a:defRPr b="1" sz="2000">
                <a:solidFill>
                  <a:srgbClr val="0066CC"/>
                </a:solidFill>
              </a:defRPr>
            </a:pPr>
            <a:r>
              <a:t>Data Protection Compliance</a:t>
            </a:r>
          </a:p>
          <a:p>
            <a:pPr lvl="1">
              <a:defRPr sz="1600">
                <a:solidFill>
                  <a:srgbClr val="4D4D4D"/>
                </a:solidFill>
              </a:defRPr>
            </a:pPr>
            <a:r>
              <a:t>GDPR, PCI-DSS compliant for global standards</a:t>
            </a:r>
          </a:p>
          <a:p>
            <a:pPr>
              <a:defRPr b="1" sz="2000">
                <a:solidFill>
                  <a:srgbClr val="0066CC"/>
                </a:solidFill>
              </a:defRPr>
            </a:pPr>
            <a:r>
              <a:t>Fraud Prevention</a:t>
            </a:r>
          </a:p>
          <a:p>
            <a:pPr lvl="1">
              <a:defRPr sz="1600">
                <a:solidFill>
                  <a:srgbClr val="4D4D4D"/>
                </a:solidFill>
              </a:defRPr>
            </a:pPr>
            <a:r>
              <a:t>Real-time fraud detection and prevention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0066CC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0066CC"/>
                </a:solidFill>
              </a:defRPr>
            </a:pPr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066CC"/>
                </a:solidFill>
              </a:defRPr>
            </a:pPr>
            <a:r>
              <a:t>Revenue Streams</a:t>
            </a:r>
          </a:p>
          <a:p>
            <a:pPr lvl="1">
              <a:defRPr sz="1600">
                <a:solidFill>
                  <a:srgbClr val="4D4D4D"/>
                </a:solidFill>
              </a:defRPr>
            </a:pPr>
            <a:r>
              <a:t>Direct product sales with competitive margins</a:t>
            </a:r>
          </a:p>
          <a:p>
            <a:pPr lvl="1">
              <a:defRPr sz="1600">
                <a:solidFill>
                  <a:srgbClr val="4D4D4D"/>
                </a:solidFill>
              </a:defRPr>
            </a:pPr>
            <a:r>
              <a:t>Commission-based marketplace model (optional)</a:t>
            </a:r>
          </a:p>
          <a:p>
            <a:pPr>
              <a:defRPr b="1" sz="2000">
                <a:solidFill>
                  <a:srgbClr val="0066CC"/>
                </a:solidFill>
              </a:defRPr>
            </a:pPr>
            <a:r>
              <a:t>Pricing Strategy</a:t>
            </a:r>
          </a:p>
          <a:p>
            <a:pPr lvl="1">
              <a:defRPr sz="1600">
                <a:solidFill>
                  <a:srgbClr val="4D4D4D"/>
                </a:solidFill>
              </a:defRPr>
            </a:pPr>
            <a:r>
              <a:t>Competitive pricing with dynamic discount capabilities</a:t>
            </a:r>
          </a:p>
          <a:p>
            <a:pPr>
              <a:defRPr b="1" sz="2000">
                <a:solidFill>
                  <a:srgbClr val="0066CC"/>
                </a:solidFill>
              </a:defRPr>
            </a:pPr>
            <a:r>
              <a:t>Target Market Segments</a:t>
            </a:r>
          </a:p>
          <a:p>
            <a:pPr lvl="1">
              <a:defRPr sz="1600">
                <a:solidFill>
                  <a:srgbClr val="4D4D4D"/>
                </a:solidFill>
              </a:defRPr>
            </a:pPr>
            <a:r>
              <a:t>B2C for retail customers, B2B for wholesale opportunities</a:t>
            </a:r>
          </a:p>
          <a:p>
            <a:pPr>
              <a:defRPr b="1" sz="2000">
                <a:solidFill>
                  <a:srgbClr val="0066CC"/>
                </a:solidFill>
              </a:defRPr>
            </a:pPr>
            <a:r>
              <a:t>Growth Strategy</a:t>
            </a:r>
          </a:p>
          <a:p>
            <a:pPr lvl="1">
              <a:defRPr sz="1600">
                <a:solidFill>
                  <a:srgbClr val="4D4D4D"/>
                </a:solidFill>
              </a:defRPr>
            </a:pPr>
            <a:r>
              <a:t>Geographic expansion and product diversification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0066CC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0066CC"/>
                </a:solidFill>
              </a:defRPr>
            </a:pPr>
            <a:r>
              <a:t>Analytics &amp; Reporting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066CC"/>
                </a:solidFill>
              </a:defRPr>
            </a:pPr>
            <a:r>
              <a:t>Dashboard Features</a:t>
            </a:r>
          </a:p>
          <a:p>
            <a:pPr lvl="1">
              <a:defRPr sz="1600">
                <a:solidFill>
                  <a:srgbClr val="4D4D4D"/>
                </a:solidFill>
              </a:defRPr>
            </a:pPr>
            <a:r>
              <a:t>Real-time sales tracking and performance metrics</a:t>
            </a:r>
          </a:p>
          <a:p>
            <a:pPr>
              <a:defRPr b="1" sz="2000">
                <a:solidFill>
                  <a:srgbClr val="0066CC"/>
                </a:solidFill>
              </a:defRPr>
            </a:pPr>
            <a:r>
              <a:t>Sales Analytics</a:t>
            </a:r>
          </a:p>
          <a:p>
            <a:pPr lvl="1">
              <a:defRPr sz="1600">
                <a:solidFill>
                  <a:srgbClr val="4D4D4D"/>
                </a:solidFill>
              </a:defRPr>
            </a:pPr>
            <a:r>
              <a:t>Revenue reports, conversion rates, and trend analysis</a:t>
            </a:r>
          </a:p>
          <a:p>
            <a:pPr>
              <a:defRPr b="1" sz="2000">
                <a:solidFill>
                  <a:srgbClr val="0066CC"/>
                </a:solidFill>
              </a:defRPr>
            </a:pPr>
            <a:r>
              <a:t>Customer Insights</a:t>
            </a:r>
          </a:p>
          <a:p>
            <a:pPr lvl="1">
              <a:defRPr sz="1600">
                <a:solidFill>
                  <a:srgbClr val="4D4D4D"/>
                </a:solidFill>
              </a:defRPr>
            </a:pPr>
            <a:r>
              <a:t>Purchasing behavior, demographics, and lifetime value</a:t>
            </a:r>
          </a:p>
          <a:p>
            <a:pPr>
              <a:defRPr b="1" sz="2000">
                <a:solidFill>
                  <a:srgbClr val="0066CC"/>
                </a:solidFill>
              </a:defRPr>
            </a:pPr>
            <a:r>
              <a:t>Inventory Management</a:t>
            </a:r>
          </a:p>
          <a:p>
            <a:pPr lvl="1">
              <a:defRPr sz="1600">
                <a:solidFill>
                  <a:srgbClr val="4D4D4D"/>
                </a:solidFill>
              </a:defRPr>
            </a:pPr>
            <a:r>
              <a:t>Stock levels, turnover rates, and reorder alerts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0066CC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0066CC"/>
                </a:solidFill>
              </a:defRPr>
            </a:pPr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066CC"/>
                </a:solidFill>
              </a:defRPr>
            </a:pPr>
            <a:r>
              <a:t>Frontend Technologies: React.js, HTML5, CSS3, Bootstrap</a:t>
            </a:r>
          </a:p>
          <a:p>
            <a:pPr>
              <a:defRPr b="1" sz="2000">
                <a:solidFill>
                  <a:srgbClr val="0066CC"/>
                </a:solidFill>
              </a:defRPr>
            </a:pPr>
            <a:r>
              <a:t>Backend Frameworks: Node.js, Express.js, RESTful APIs</a:t>
            </a:r>
          </a:p>
          <a:p>
            <a:pPr>
              <a:defRPr b="1" sz="2000">
                <a:solidFill>
                  <a:srgbClr val="0066CC"/>
                </a:solidFill>
              </a:defRPr>
            </a:pPr>
            <a:r>
              <a:t>Database Solutions: MongoDB (NoSQL), PostgreSQL (SQL)</a:t>
            </a:r>
          </a:p>
          <a:p>
            <a:pPr>
              <a:defRPr b="1" sz="2000">
                <a:solidFill>
                  <a:srgbClr val="0066CC"/>
                </a:solidFill>
              </a:defRPr>
            </a:pPr>
            <a:r>
              <a:t>Cloud Infrastructure: AWS, Azure, or Google Cloud Platform</a:t>
            </a:r>
          </a:p>
          <a:p>
            <a:pPr>
              <a:defRPr b="1" sz="2000">
                <a:solidFill>
                  <a:srgbClr val="0066CC"/>
                </a:solidFill>
              </a:defRPr>
            </a:pPr>
            <a:r>
              <a:t>DevOps Tools: Docker, Kubernetes, CI/CD pipelines</a:t>
            </a:r>
          </a:p>
          <a:p>
            <a:pPr>
              <a:defRPr b="1" sz="2000">
                <a:solidFill>
                  <a:srgbClr val="0066CC"/>
                </a:solidFill>
              </a:defRPr>
            </a:pPr>
            <a:r>
              <a:t>Security: OAuth 2.0, JWT, SSL/TLS, encryption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0066CC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0066CC"/>
                </a:solidFill>
              </a:defRPr>
            </a:pPr>
            <a:r>
              <a:t>Development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066CC"/>
                </a:solidFill>
              </a:defRPr>
            </a:pPr>
            <a:r>
              <a:t>Phase 1: MVP Features (Weeks 1-8)</a:t>
            </a:r>
          </a:p>
          <a:p>
            <a:pPr lvl="1">
              <a:defRPr sz="1600">
                <a:solidFill>
                  <a:srgbClr val="4D4D4D"/>
                </a:solidFill>
              </a:defRPr>
            </a:pPr>
            <a:r>
              <a:t>User authentication, product catalog, shopping cart, checkout</a:t>
            </a:r>
          </a:p>
          <a:p>
            <a:pPr>
              <a:defRPr b="1" sz="2000">
                <a:solidFill>
                  <a:srgbClr val="0066CC"/>
                </a:solidFill>
              </a:defRPr>
            </a:pPr>
            <a:r>
              <a:t>Phase 2: Enhanced Features (Weeks 9-16)</a:t>
            </a:r>
          </a:p>
          <a:p>
            <a:pPr lvl="1">
              <a:defRPr sz="1600">
                <a:solidFill>
                  <a:srgbClr val="4D4D4D"/>
                </a:solidFill>
              </a:defRPr>
            </a:pPr>
            <a:r>
              <a:t>Order tracking, reviews, wishlist, admin dashboard</a:t>
            </a:r>
          </a:p>
          <a:p>
            <a:pPr>
              <a:defRPr b="1" sz="2000">
                <a:solidFill>
                  <a:srgbClr val="0066CC"/>
                </a:solidFill>
              </a:defRPr>
            </a:pPr>
            <a:r>
              <a:t>Phase 3: Scale and Optimization (Weeks 17-24)</a:t>
            </a:r>
          </a:p>
          <a:p>
            <a:pPr lvl="1">
              <a:defRPr sz="1600">
                <a:solidFill>
                  <a:srgbClr val="4D4D4D"/>
                </a:solidFill>
              </a:defRPr>
            </a:pPr>
            <a:r>
              <a:t>Performance optimization, advanced analytics, mobile apps</a:t>
            </a:r>
          </a:p>
          <a:p>
            <a:pPr>
              <a:defRPr b="1" sz="2000">
                <a:solidFill>
                  <a:srgbClr val="0066CC"/>
                </a:solidFill>
              </a:defRPr>
            </a:pPr>
            <a:r>
              <a:t>Timeline and Milestones</a:t>
            </a:r>
          </a:p>
          <a:p>
            <a:pPr lvl="1">
              <a:defRPr sz="1600">
                <a:solidFill>
                  <a:srgbClr val="4D4D4D"/>
                </a:solidFill>
              </a:defRPr>
            </a:pPr>
            <a:r>
              <a:t>6-month development cycle with continuous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0066CC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0066CC"/>
                </a:solidFill>
              </a:defRPr>
            </a:pPr>
            <a:r>
              <a:t>Competitive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066CC"/>
                </a:solidFill>
              </a:defRPr>
            </a:pPr>
            <a:r>
              <a:t>Market Positioning</a:t>
            </a:r>
          </a:p>
          <a:p>
            <a:pPr lvl="1">
              <a:defRPr sz="1600">
                <a:solidFill>
                  <a:srgbClr val="4D4D4D"/>
                </a:solidFill>
              </a:defRPr>
            </a:pPr>
            <a:r>
              <a:t>Mid-market solution with enterprise-level features</a:t>
            </a:r>
          </a:p>
          <a:p>
            <a:pPr>
              <a:defRPr b="1" sz="2000">
                <a:solidFill>
                  <a:srgbClr val="0066CC"/>
                </a:solidFill>
              </a:defRPr>
            </a:pPr>
            <a:r>
              <a:t>Competitor Comparison</a:t>
            </a:r>
          </a:p>
          <a:p>
            <a:pPr lvl="1">
              <a:defRPr sz="1600">
                <a:solidFill>
                  <a:srgbClr val="4D4D4D"/>
                </a:solidFill>
              </a:defRPr>
            </a:pPr>
            <a:r>
              <a:t>More affordable than Shopify, more features than WooCommerce</a:t>
            </a:r>
          </a:p>
          <a:p>
            <a:pPr>
              <a:defRPr b="1" sz="2000">
                <a:solidFill>
                  <a:srgbClr val="0066CC"/>
                </a:solidFill>
              </a:defRPr>
            </a:pPr>
            <a:r>
              <a:t>Differentiation Factors</a:t>
            </a:r>
          </a:p>
          <a:p>
            <a:pPr lvl="1">
              <a:defRPr sz="1600">
                <a:solidFill>
                  <a:srgbClr val="4D4D4D"/>
                </a:solidFill>
              </a:defRPr>
            </a:pPr>
            <a:r>
              <a:t>✓ User-friendly interface for all skill levels</a:t>
            </a:r>
          </a:p>
          <a:p>
            <a:pPr lvl="1">
              <a:defRPr sz="1600">
                <a:solidFill>
                  <a:srgbClr val="4D4D4D"/>
                </a:solidFill>
              </a:defRPr>
            </a:pPr>
            <a:r>
              <a:t>✓ 95% error reduction through automation</a:t>
            </a:r>
          </a:p>
          <a:p>
            <a:pPr lvl="1">
              <a:defRPr sz="1600">
                <a:solidFill>
                  <a:srgbClr val="4D4D4D"/>
                </a:solidFill>
              </a:defRPr>
            </a:pPr>
            <a:r>
              <a:t>✓ Scalable architecture for business growth</a:t>
            </a:r>
          </a:p>
          <a:p>
            <a:pPr lvl="1">
              <a:defRPr sz="1600">
                <a:solidFill>
                  <a:srgbClr val="4D4D4D"/>
                </a:solidFill>
              </a:defRPr>
            </a:pPr>
            <a:r>
              <a:t>✓ Enterprise-grade security at competitive pricing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0066CC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0066CC"/>
                </a:solidFill>
              </a:defRPr>
            </a:pPr>
            <a:r>
              <a:t>Team &amp;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066CC"/>
                </a:solidFill>
              </a:defRPr>
            </a:pPr>
            <a:r>
              <a:t>Development Team Structure</a:t>
            </a:r>
          </a:p>
          <a:p>
            <a:pPr lvl="1">
              <a:defRPr sz="1600">
                <a:solidFill>
                  <a:srgbClr val="4D4D4D"/>
                </a:solidFill>
              </a:defRPr>
            </a:pPr>
            <a:r>
              <a:t>Project Manager, UI/UX Designer, Frontend Developers (2-3)</a:t>
            </a:r>
          </a:p>
          <a:p>
            <a:pPr lvl="1">
              <a:defRPr sz="1600">
                <a:solidFill>
                  <a:srgbClr val="4D4D4D"/>
                </a:solidFill>
              </a:defRPr>
            </a:pPr>
            <a:r>
              <a:t>Backend Developers (2-3), Database Administrator, QA Engineers (2)</a:t>
            </a:r>
          </a:p>
          <a:p>
            <a:pPr>
              <a:defRPr b="1" sz="2000">
                <a:solidFill>
                  <a:srgbClr val="0066CC"/>
                </a:solidFill>
              </a:defRPr>
            </a:pPr>
            <a:r>
              <a:t>Required Resources</a:t>
            </a:r>
          </a:p>
          <a:p>
            <a:pPr lvl="1">
              <a:defRPr sz="1600">
                <a:solidFill>
                  <a:srgbClr val="4D4D4D"/>
                </a:solidFill>
              </a:defRPr>
            </a:pPr>
            <a:r>
              <a:t>Development tools, cloud infrastructure, testing environments</a:t>
            </a:r>
          </a:p>
          <a:p>
            <a:pPr>
              <a:defRPr b="1" sz="2000">
                <a:solidFill>
                  <a:srgbClr val="0066CC"/>
                </a:solidFill>
              </a:defRPr>
            </a:pPr>
            <a:r>
              <a:t>Skillsets Needed</a:t>
            </a:r>
          </a:p>
          <a:p>
            <a:pPr lvl="1">
              <a:defRPr sz="1600">
                <a:solidFill>
                  <a:srgbClr val="4D4D4D"/>
                </a:solidFill>
              </a:defRPr>
            </a:pPr>
            <a:r>
              <a:t>Full-stack development, DevOps, security expertise, UX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0066CC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0066CC"/>
                </a:solidFill>
              </a:defRPr>
            </a:pPr>
            <a:r>
              <a:t>Financial Projections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066CC"/>
                </a:solidFill>
              </a:defRPr>
            </a:pPr>
            <a:r>
              <a:t>Cost Breakdown</a:t>
            </a:r>
          </a:p>
          <a:p>
            <a:pPr lvl="1">
              <a:defRPr sz="1600">
                <a:solidFill>
                  <a:srgbClr val="4D4D4D"/>
                </a:solidFill>
              </a:defRPr>
            </a:pPr>
            <a:r>
              <a:t>Development: $150K-$300K | Infrastructure: $5K-$15K/year</a:t>
            </a:r>
          </a:p>
          <a:p>
            <a:pPr lvl="1">
              <a:defRPr sz="1600">
                <a:solidFill>
                  <a:srgbClr val="4D4D4D"/>
                </a:solidFill>
              </a:defRPr>
            </a:pPr>
            <a:r>
              <a:t>Marketing: $10K-$30K | Total Budget: $172K-$360K</a:t>
            </a:r>
          </a:p>
          <a:p>
            <a:pPr>
              <a:defRPr b="1" sz="2000">
                <a:solidFill>
                  <a:srgbClr val="0066CC"/>
                </a:solidFill>
              </a:defRPr>
            </a:pPr>
            <a:r>
              <a:t>ROI Expectations</a:t>
            </a:r>
          </a:p>
          <a:p>
            <a:pPr lvl="1">
              <a:defRPr sz="1600">
                <a:solidFill>
                  <a:srgbClr val="4D4D4D"/>
                </a:solidFill>
              </a:defRPr>
            </a:pPr>
            <a:r>
              <a:t>70% operational efficiency gain, 95% error reduction</a:t>
            </a:r>
          </a:p>
          <a:p>
            <a:pPr lvl="1">
              <a:defRPr sz="1600">
                <a:solidFill>
                  <a:srgbClr val="4D4D4D"/>
                </a:solidFill>
              </a:defRPr>
            </a:pPr>
            <a:r>
              <a:t>Revenue growth through 24/7 availability and wider reach</a:t>
            </a:r>
          </a:p>
          <a:p>
            <a:pPr>
              <a:defRPr b="1" sz="2000">
                <a:solidFill>
                  <a:srgbClr val="0066CC"/>
                </a:solidFill>
              </a:defRPr>
            </a:pPr>
            <a:r>
              <a:t>Break-Even Analysis</a:t>
            </a:r>
          </a:p>
          <a:p>
            <a:pPr lvl="1">
              <a:defRPr sz="1600">
                <a:solidFill>
                  <a:srgbClr val="4D4D4D"/>
                </a:solidFill>
              </a:defRPr>
            </a:pPr>
            <a:r>
              <a:t>Expected break-even in 18-24 months with moderate growth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0066CC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0066CC"/>
                </a:solidFill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66CC"/>
                </a:solidFill>
              </a:defRPr>
            </a:pPr>
            <a:r>
              <a:t>Let's Transform E-Commerce Together!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6400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Next Steps:</a:t>
            </a:r>
          </a:p>
          <a:p>
            <a:pPr>
              <a:spcBef>
                <a:spcPts val="1200"/>
              </a:spcBef>
              <a:defRPr sz="2000" b="1">
                <a:solidFill>
                  <a:srgbClr val="0066CC"/>
                </a:solidFill>
              </a:defRPr>
            </a:pPr>
            <a:r>
              <a:t>• Review project documentation and technical specifications</a:t>
            </a:r>
          </a:p>
          <a:p>
            <a:pPr>
              <a:defRPr sz="2000" b="1">
                <a:solidFill>
                  <a:srgbClr val="0066CC"/>
                </a:solidFill>
              </a:defRPr>
            </a:pPr>
            <a:r>
              <a:t>• Schedule technical discussion with development team</a:t>
            </a:r>
          </a:p>
          <a:p>
            <a:pPr>
              <a:defRPr sz="2000" b="1">
                <a:solidFill>
                  <a:srgbClr val="0066CC"/>
                </a:solidFill>
              </a:defRPr>
            </a:pPr>
            <a:r>
              <a:t>• Explore GitHub repository for implementation details</a:t>
            </a:r>
          </a:p>
          <a:p>
            <a:pPr>
              <a:defRPr sz="2000" b="1">
                <a:solidFill>
                  <a:srgbClr val="0066CC"/>
                </a:solidFill>
              </a:defRPr>
            </a:pPr>
            <a:r>
              <a:t>• Begin planning for project kickoff and resource allocation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6692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66CC"/>
                </a:solidFill>
              </a:defRPr>
            </a:pPr>
            <a:r>
              <a:t>GitHub: github.com/shivam24scse-lab/-Online-E-Commerce-System-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000" b="1">
                <a:solidFill>
                  <a:srgbClr val="0066CC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